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40" r:id="rId5"/>
    <p:sldId id="341" r:id="rId6"/>
    <p:sldId id="342" r:id="rId7"/>
    <p:sldId id="356" r:id="rId8"/>
    <p:sldId id="362" r:id="rId9"/>
    <p:sldId id="357" r:id="rId10"/>
    <p:sldId id="361" r:id="rId11"/>
    <p:sldId id="358" r:id="rId12"/>
    <p:sldId id="363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5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011AE-978F-662C-D2BF-31364A00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EC9E5-446E-BBC6-D191-7C7AC672E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FF4A2-76C9-80A6-1124-623BDCC77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A9E3-9462-3523-FA07-5AA9ED823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27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AA7D-34DE-A72D-237A-F6E25542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524EE-A4AD-1465-C9E5-A10934566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C1402-912D-4DB9-8906-E8227B98B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34615-8D1D-8556-6EAD-74DB080BB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10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0668-6308-E1D6-CB10-0482292E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9BAEA-4443-EEA5-807F-64B126C38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C06A8-5D39-2330-EF38-305F34E1E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39590-B778-563F-27CC-F742A7A05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45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B747-787C-32DF-5A3A-5A168E70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B399B-3FAE-E73A-31CC-2A6C9AB7E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D5DD7-F59F-F4AA-B28E-CEFB7C361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1F7B8-2221-09E6-11AF-F2DFB5D92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9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0C67-D0A8-819C-0021-D29027046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531E3-319E-8243-2B26-836334ADA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7DB28-AF80-965F-2654-DE42476E7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381A0-093F-CEF7-A083-A12D58B06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595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2A34-BEA2-1770-713E-FD1208D1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3A2C9-D1B7-C588-9C3E-EDB6B16A1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59613-8449-FCE1-EE2D-76DC00493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8A3DF-D6EA-596D-6B47-4856330F6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62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7BC0-CC28-E345-266E-A0AF9B738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79A66-6B13-600B-B963-5FC08DEAD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83D71-55B7-76AF-D3B6-09543B0AB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F67EE-4156-F1FE-5ED4-B64B04804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917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980DA-2222-20B2-B4E0-37FCFAA8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D5C91-1E1D-C4B5-DEAB-CA87A3E0E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861BA-518A-02EB-6A57-4F592DFD7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19C3C-6F8E-46EC-5CA8-D8CFDC387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64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013A-F2BD-7F38-7A70-BFFA789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AD6FE-7A48-C17F-E4D1-5FBC9E254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AC036-ED11-8E13-B195-8BF79AA14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CBE51-EFC8-02ED-7C3E-431EF23125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46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25F0-F985-6B58-A284-8F4DE51B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0EF28-1240-9336-B823-65B730FB0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92F06-3B80-C718-F4E8-A56FCA23B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38EE9-3BB6-2C02-7697-C3FDC40A3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232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5A97-89C1-7599-1C65-47FC1AA4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2BDB6-0E1F-D887-4108-E22DECA75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BAC9E-CB15-44BD-8A34-62DD98176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27B7A-1D8A-5BFC-63C8-8902EBDBC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685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118A-BB44-936D-02D5-1EF4AB1C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1B5F6-B25C-1683-9DBF-5F0CA9BD0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8985B-F3D5-EB7E-8CE2-15F4DA757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47BF0-D0A5-4B39-DB9B-6B9F3FEAE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219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D902-00B2-308F-5200-3A9C333B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1E589-28BD-58C5-775A-5F52A7443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B59A2-E0F8-78C9-71D1-A07F521D4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35353-E04F-D8AF-BFFC-C8B3F1B12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99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4D90-2001-9947-8BAD-827AEF00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3AE58-5180-9726-BA24-E4C2E2119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6BB27-8B40-0727-C11D-3005F2EA2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493FC-69EF-673B-C051-B60E83BDD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241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D794-BB7D-453B-84E9-A9A4B4C0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80F89-E232-AE60-3EC8-75B4ACC9E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C00B4-8ED4-7A6E-FBDE-9FC4C804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7AAAB-D7A7-5DBC-FE46-D4267C41B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87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EF6C-D86A-8A31-D159-18D5623B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65919-40AE-E8B9-F8AC-7627B62E1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B0B0B-21BF-5E88-C17B-4A95192FE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808CA-FF65-6A46-9817-F9D4C89BD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67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04052-228E-F115-3DB2-BEE69D6D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2F745-AEB7-872D-F571-FC362A7BE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2445B-35E8-C03A-D02A-83CC39EAF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31CB5-2B50-54DF-93B0-420E2D6CA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3831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9724-3171-55F2-4538-48EAD29E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9C212-8B42-0510-1736-E927EDD3C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F66C7-2F5E-134B-D64A-FCE3FA2AB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8075E-7B4A-409D-831D-4EC986A5A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15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90BF-3560-7285-1D33-FB929DFC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48D5A-6C5C-6495-4416-EE33CB625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3232D-E548-F17A-02D2-6386405AE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36E67-CE38-A0CC-55B6-3BC0DC2F1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67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10FCB-397C-7560-8D6F-60F2E9B7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A9CCF-46F4-7831-D24B-07391106F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9E78C-6D26-B409-AD07-4E114D3F4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F6EB8-D023-6808-719D-0A6A5083C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12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0B00-9B1A-6E3D-17F3-0C8A9B18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0E8CB-861C-0CAB-1A77-73D20BF21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6786D-F84D-3D0F-DC2E-1D3C5653D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777FD-203A-0A4A-8996-6249E4B9F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8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834843"/>
            <a:ext cx="10571998" cy="1179844"/>
          </a:xfrm>
        </p:spPr>
        <p:txBody>
          <a:bodyPr/>
          <a:lstStyle/>
          <a:p>
            <a:pPr>
              <a:defRPr sz="2200">
                <a:solidFill>
                  <a:srgbClr val="DCE6F0"/>
                </a:solidFill>
              </a:defRPr>
            </a:pP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Construction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8CE63-4E13-D9A7-D784-252573E78B6A}"/>
              </a:ext>
            </a:extLst>
          </p:cNvPr>
          <p:cNvSpPr txBox="1"/>
          <p:nvPr/>
        </p:nvSpPr>
        <p:spPr>
          <a:xfrm>
            <a:off x="4136571" y="4847548"/>
            <a:ext cx="4136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Maria Manzoor</a:t>
            </a:r>
          </a:p>
          <a:p>
            <a:pPr algn="ctr"/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maria.manzoor@iqraisb.edu.pk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35EDDE-9D36-57C1-AA9E-120AF8DEB10C}"/>
              </a:ext>
            </a:extLst>
          </p:cNvPr>
          <p:cNvSpPr txBox="1">
            <a:spLocks/>
          </p:cNvSpPr>
          <p:nvPr/>
        </p:nvSpPr>
        <p:spPr>
          <a:xfrm>
            <a:off x="733801" y="2839078"/>
            <a:ext cx="10571998" cy="1179844"/>
          </a:xfrm>
          <a:prstGeom prst="rect">
            <a:avLst/>
          </a:prstGeom>
          <a:ln>
            <a:noFill/>
          </a:ln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7200" b="1" kern="1200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4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01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F43EB-7017-06A4-BEFB-FCFC29DA8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770792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017" y="924339"/>
            <a:ext cx="4383156" cy="5009322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79029" y="1169827"/>
            <a:ext cx="4572000" cy="476383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software construction and explain its purpose.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major phases of software development and the role of construction.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major construction activities such as coding, debugging, testing, and integration.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good coding and construction practices.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code quality, maintainability, reuse, refactoring, and configuration/build management.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common examination questions about software construction.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F1EBE-786C-F307-5FC4-09188F62A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775888"/>
            <a:ext cx="6248400" cy="653985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Software Construction?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026" y="1741713"/>
            <a:ext cx="10293431" cy="3686414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rgbClr val="232323"/>
                </a:solidFill>
              </a:defRPr>
            </a:pPr>
            <a:endParaRPr lang="en-US" sz="24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627B9-3CC7-24EF-2428-F0B03AB5C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99F1A05B-3CC7-B484-70F4-843CEA5C3989}"/>
              </a:ext>
            </a:extLst>
          </p:cNvPr>
          <p:cNvSpPr/>
          <p:nvPr/>
        </p:nvSpPr>
        <p:spPr>
          <a:xfrm>
            <a:off x="668384" y="1836163"/>
            <a:ext cx="10086702" cy="3345437"/>
          </a:xfrm>
          <a:prstGeom prst="roundRect">
            <a:avLst/>
          </a:prstGeom>
          <a:solidFill>
            <a:srgbClr val="F5F8F2"/>
          </a:solidFill>
          <a:ln>
            <a:solidFill>
              <a:srgbClr val="2D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construction is the process of creating working software through coding and related implementation activities.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converts software requirements and technical specifications into executable programs.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includes more than writing code: verification, debugging, integration, and related technical work are also involved.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produce software that is correct, understandable, maintainable, testable, and reliable.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 definition: Software construction is the detailed creation and integration of software components into a working system.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D5C8-8CB7-E3A2-A9A7-27B5E813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2FB2-F7F7-6975-7D49-E936CB8C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775888"/>
            <a:ext cx="5823857" cy="653985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Does Construction Fit?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6B094C-883E-CBD0-5CB2-275EF22FA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C81A74A4-C8AB-1FCA-2425-86C2FB6295AF}"/>
              </a:ext>
            </a:extLst>
          </p:cNvPr>
          <p:cNvSpPr/>
          <p:nvPr/>
        </p:nvSpPr>
        <p:spPr>
          <a:xfrm>
            <a:off x="668384" y="1784960"/>
            <a:ext cx="10467702" cy="36143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simplified software development flow is: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→ Requirements → Design → Construction → Testing → Deployment → Maintenance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construction is the implementation-centered part of the process.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activities may overlap with construction, especially in iterative and Agile development.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construction is not an isolated phase in every development methodology.</a:t>
            </a:r>
          </a:p>
        </p:txBody>
      </p:sp>
    </p:spTree>
    <p:extLst>
      <p:ext uri="{BB962C8B-B14F-4D97-AF65-F5344CB8AC3E}">
        <p14:creationId xmlns:p14="http://schemas.microsoft.com/office/powerpoint/2010/main" val="232674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785BE-E52E-A641-5FA0-D0424A90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76C059-C7B8-9F3F-6C46-AF30F0E9F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0C8641-4860-FBAE-D631-7C06D159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696036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Software Construction Important?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E7C2EC9C-3B02-EC83-9587-0587F1D434E0}"/>
              </a:ext>
            </a:extLst>
          </p:cNvPr>
          <p:cNvSpPr/>
          <p:nvPr/>
        </p:nvSpPr>
        <p:spPr>
          <a:xfrm>
            <a:off x="1038061" y="1625385"/>
            <a:ext cx="9586396" cy="383924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where software becomes an executable product.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construction can introduce defects even when requirements and specifications are correct.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construction practices improve reliability, readability, maintainability, and development speed.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decisions affect future testing, maintenance, debugging, and enhancement.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portion of practical software development work involves construction-related activities.</a:t>
            </a:r>
          </a:p>
        </p:txBody>
      </p:sp>
    </p:spTree>
    <p:extLst>
      <p:ext uri="{BB962C8B-B14F-4D97-AF65-F5344CB8AC3E}">
        <p14:creationId xmlns:p14="http://schemas.microsoft.com/office/powerpoint/2010/main" val="309788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7070-9D6C-FBE9-6776-64C11501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D52A-DE5C-70A7-3C3B-425669A56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43" y="654232"/>
            <a:ext cx="6640286" cy="653985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Software Construction Activities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99713-7439-6B1E-DD7E-01B47EBD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EBF9827F-2861-5967-4141-CC3DD2EC85AE}"/>
              </a:ext>
            </a:extLst>
          </p:cNvPr>
          <p:cNvSpPr/>
          <p:nvPr/>
        </p:nvSpPr>
        <p:spPr>
          <a:xfrm>
            <a:off x="975360" y="1688332"/>
            <a:ext cx="4685212" cy="32211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and implementation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complexity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coding standards and conventions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and defensive programming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and verification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A6C7F8-8921-7439-3301-9F88966AE9B0}"/>
              </a:ext>
            </a:extLst>
          </p:cNvPr>
          <p:cNvSpPr/>
          <p:nvPr/>
        </p:nvSpPr>
        <p:spPr>
          <a:xfrm>
            <a:off x="6004560" y="1688332"/>
            <a:ext cx="4685212" cy="32211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and reuse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configuration management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25742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EEF95-5AF5-A411-8671-25CE5EFB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601726-DCA1-6106-F40A-5AC9CD813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876D90B-68EF-5EDC-0DA8-433BB5E8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24718" y="709664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Coding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ED442527-F7A0-11F1-FAB1-354494818FF6}"/>
              </a:ext>
            </a:extLst>
          </p:cNvPr>
          <p:cNvSpPr/>
          <p:nvPr/>
        </p:nvSpPr>
        <p:spPr>
          <a:xfrm>
            <a:off x="896547" y="1570956"/>
            <a:ext cx="9869425" cy="41658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is the process of implementing software functionality using a programming language.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programming languages: Java, Python, C++, C#, JavaScript.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 translate algorithms, specifications, interfaces, and data requirements into source code.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code should be clear, consistent, testable, and easy to modify.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is the central activity of construction, but construction includes several supporting activities.</a:t>
            </a:r>
          </a:p>
        </p:txBody>
      </p:sp>
    </p:spTree>
    <p:extLst>
      <p:ext uri="{BB962C8B-B14F-4D97-AF65-F5344CB8AC3E}">
        <p14:creationId xmlns:p14="http://schemas.microsoft.com/office/powerpoint/2010/main" val="409885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30D3-1133-D279-B7C9-67EA952C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89680C-7DCC-8959-BC6F-DECA4045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4E621BC-C769-6806-533C-D17B37A0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82083" y="489206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Coding Practices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CC61D965-795D-BBD0-1136-DD883A5D84FF}"/>
              </a:ext>
            </a:extLst>
          </p:cNvPr>
          <p:cNvSpPr/>
          <p:nvPr/>
        </p:nvSpPr>
        <p:spPr>
          <a:xfrm>
            <a:off x="923108" y="1577340"/>
            <a:ext cx="9342119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meaningful names for variables, functions, classes, and modules.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functions and classes focused on clear responsibilities.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duplication.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consistent formatting and coding conventions.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comments when they explain important reasoning—not obvious code.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errors explicitly and safely.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code simple; avoid unnecessary complexity.</a:t>
            </a:r>
          </a:p>
        </p:txBody>
      </p:sp>
    </p:spTree>
    <p:extLst>
      <p:ext uri="{BB962C8B-B14F-4D97-AF65-F5344CB8AC3E}">
        <p14:creationId xmlns:p14="http://schemas.microsoft.com/office/powerpoint/2010/main" val="117052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BAE8-D8ED-16B2-7A08-2FC9A2E8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C7A108-50D4-3A08-B1B7-26A42EBDD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05CF27C-8FF0-A9AB-5931-8A719FB5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1569" y="532748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Standards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9E69D878-655A-CFCF-8F02-D11BC1F26B6D}"/>
              </a:ext>
            </a:extLst>
          </p:cNvPr>
          <p:cNvSpPr/>
          <p:nvPr/>
        </p:nvSpPr>
        <p:spPr>
          <a:xfrm>
            <a:off x="836023" y="1561011"/>
            <a:ext cx="10343606" cy="390361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standards are agreed rules for writing source code consistently.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specify naming, formatting, file organization, comments, error handling, and documentation.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readability and consistency.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code reviews easier.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misunderstandings among developers.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long-term maintenance.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consistently use camelCase for method names and descriptive names for variables.</a:t>
            </a:r>
          </a:p>
        </p:txBody>
      </p:sp>
    </p:spTree>
    <p:extLst>
      <p:ext uri="{BB962C8B-B14F-4D97-AF65-F5344CB8AC3E}">
        <p14:creationId xmlns:p14="http://schemas.microsoft.com/office/powerpoint/2010/main" val="72687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85034-651E-E68E-AC0F-1134A9AB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A37F07-1F31-1565-8C99-DC425BAEC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01F6147-A056-C0A4-6897-7A70EDF03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7834" y="512390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Complexity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7CF085C9-525D-BC7F-0885-7DFF8B0F9DFC}"/>
              </a:ext>
            </a:extLst>
          </p:cNvPr>
          <p:cNvSpPr/>
          <p:nvPr/>
        </p:nvSpPr>
        <p:spPr>
          <a:xfrm>
            <a:off x="1021080" y="1919313"/>
            <a:ext cx="9734006" cy="337114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systems can become difficult to understand as their size increases.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manages complexity by using: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 — divide the system into manageable units.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— focus on essential details and hide unnecessary details.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— keep internal implementation details controlled behind clear interfaces.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 — keep different responsibilities distinct.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make each part easier to understand, test, and change.</a:t>
            </a:r>
          </a:p>
        </p:txBody>
      </p:sp>
    </p:spTree>
    <p:extLst>
      <p:ext uri="{BB962C8B-B14F-4D97-AF65-F5344CB8AC3E}">
        <p14:creationId xmlns:p14="http://schemas.microsoft.com/office/powerpoint/2010/main" val="327334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36064-FAC6-E7B4-9E7A-B14892EC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D9775C-2F0B-F639-5EBB-AC8547735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66EF051-23CF-F4D7-242C-4C544EDF2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59746" y="607861"/>
            <a:ext cx="7963885" cy="697336"/>
          </a:xfrm>
        </p:spPr>
        <p:txBody>
          <a:bodyPr/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EA042BDA-142E-A644-5B3E-B15DB8F24BD8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 means dividing software into smaller, relatively independent modules or components.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Online Shopping System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Shopping Cart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reduced complexity, easier testing, easier maintenance, parallel development, and potential reuse.</a:t>
            </a:r>
          </a:p>
        </p:txBody>
      </p:sp>
    </p:spTree>
    <p:extLst>
      <p:ext uri="{BB962C8B-B14F-4D97-AF65-F5344CB8AC3E}">
        <p14:creationId xmlns:p14="http://schemas.microsoft.com/office/powerpoint/2010/main" val="3216009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AC3F9-30CA-F18C-7E38-C3713022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D0C8EA-5CA7-95AA-7F7D-1FE07FF3E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F68A554-E649-C8D0-522C-166B5BBB6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1574" y="553432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 &amp; Encapsulation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DAD79A00-A578-849A-C436-F57440DE8ACD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Abstraction: represent the important features of something while hiding unnecessary details.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developer uses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payment.processPayment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operation without needing to know every internal banking step.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Encapsulation: keep data and implementation details together and control access through defined operations.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concepts help developers manage complexity and reduce unwanted dependencies.</a:t>
            </a:r>
          </a:p>
        </p:txBody>
      </p:sp>
    </p:spTree>
    <p:extLst>
      <p:ext uri="{BB962C8B-B14F-4D97-AF65-F5344CB8AC3E}">
        <p14:creationId xmlns:p14="http://schemas.microsoft.com/office/powerpoint/2010/main" val="200154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0B053-E5A9-613C-B1EC-C217CDAE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E781F7-0F58-F6D6-6A99-A2D27011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75D2ED1-5BAB-34DC-1E9D-496DF88D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2289" y="531660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6F62487B-97C9-DB9D-BA06-A8B72AD246CF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should anticipate and handle abnormal situations.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user input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files or records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failure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connection failure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permissions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error handling should provide safe behavior, useful information, and appropriate recovery where possible.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silently ignore important errors.</a:t>
            </a:r>
          </a:p>
        </p:txBody>
      </p:sp>
    </p:spTree>
    <p:extLst>
      <p:ext uri="{BB962C8B-B14F-4D97-AF65-F5344CB8AC3E}">
        <p14:creationId xmlns:p14="http://schemas.microsoft.com/office/powerpoint/2010/main" val="66709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1F842-8C2C-7BAF-BB17-6021D1DCC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9756C9-025A-EE93-EADA-1AB32946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F88968D-2656-6FFD-F980-C9FFA28F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889" y="542546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Defensive Programming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AFE8D539-3976-E0DE-8D25-154D115F97B6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programming means writing software that anticipates incorrect inputs, unexpected states, and failures.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user input.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assumptions and preconditions.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exceptions appropriately.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unsafe operations.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safely when recovery is not possible.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reduce the chance that unexpected conditions cause incorrect behavior or crashes.</a:t>
            </a:r>
          </a:p>
        </p:txBody>
      </p:sp>
    </p:spTree>
    <p:extLst>
      <p:ext uri="{BB962C8B-B14F-4D97-AF65-F5344CB8AC3E}">
        <p14:creationId xmlns:p14="http://schemas.microsoft.com/office/powerpoint/2010/main" val="217100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8F59-8E2D-ACF6-8BEF-2AD6A517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9C3FE5-950D-1824-CD2E-494258F48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E4DFE8D-D546-8E36-C405-675A1409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889" y="542546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in Construction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5B58EF80-D15C-63B2-E9CF-1E4D38C1093E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verifies individual software units such as functions, methods, classes, or small modules.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calculateTotal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(price, quantity)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price = 100, quantity = 3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result: 300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 help developers detect defects early and provide confidence when code is changed.</a:t>
            </a:r>
          </a:p>
        </p:txBody>
      </p:sp>
    </p:spTree>
    <p:extLst>
      <p:ext uri="{BB962C8B-B14F-4D97-AF65-F5344CB8AC3E}">
        <p14:creationId xmlns:p14="http://schemas.microsoft.com/office/powerpoint/2010/main" val="421166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EA0-042E-5E54-400B-BC4582DD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06F6E2-588D-B1D5-EFE0-AF5A6FA5D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27CC368-645A-A974-677C-D68A89955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94432" y="596974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9D773651-D5AA-5A46-8880-E1296B173AED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the systematic process of locating, analyzing, and correcting the cause of a software defect.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process: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→ Reproduce → Locate → Analyze → Fix → Retest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debugging are related but different.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helps reveal failures or defects; debugging investigates the cause and corrects it.</a:t>
            </a:r>
          </a:p>
        </p:txBody>
      </p:sp>
    </p:spTree>
    <p:extLst>
      <p:ext uri="{BB962C8B-B14F-4D97-AF65-F5344CB8AC3E}">
        <p14:creationId xmlns:p14="http://schemas.microsoft.com/office/powerpoint/2010/main" val="293563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D1EB8-8F40-9A54-0CF9-3CB976FD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FC5BE-1EFA-0792-08CE-EDE6DC64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0EF163E-3900-357B-7B13-DDBF1A80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94432" y="596974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Review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6C1A5AE6-D828-2EA2-4879-6115C1C41BAF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review is the systematic examination of source code by one or more developers.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may look for: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 and logic errors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Readability and maintainability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or error-handling problems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with coding standards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duplication or complexity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defects can be found before code reaches later stages.</a:t>
            </a:r>
          </a:p>
        </p:txBody>
      </p:sp>
    </p:spTree>
    <p:extLst>
      <p:ext uri="{BB962C8B-B14F-4D97-AF65-F5344CB8AC3E}">
        <p14:creationId xmlns:p14="http://schemas.microsoft.com/office/powerpoint/2010/main" val="21054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058D7-3FB7-DFCA-0729-A9363A19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D536A-5359-DB84-AEC6-D0D3C7E24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0A13F91-F1D2-73D5-A79E-2697A9F1C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94432" y="596974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8AB51AC7-314B-9312-3A08-3A5B5308A392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combines independently developed software units or components so that they work together.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include incompatible interfaces, incorrect data exchange, configuration errors, and unexpected dependencies.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should be performed regularly rather than waiting until the end of development.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19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checks whether combined components interact correctly.</a:t>
            </a:r>
          </a:p>
        </p:txBody>
      </p:sp>
    </p:spTree>
    <p:extLst>
      <p:ext uri="{BB962C8B-B14F-4D97-AF65-F5344CB8AC3E}">
        <p14:creationId xmlns:p14="http://schemas.microsoft.com/office/powerpoint/2010/main" val="394676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FA97-A05E-C107-E3C2-2770C6AC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51101A-2EB2-81B7-CF0B-ACE35F083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4ECE411-8633-97EF-D16B-E3BAF29C9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94432" y="596974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Refactoring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E5D78D02-1F65-C65F-1265-4AD0D4F712D8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means restructuring existing code without changing its externally observable behavior.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unclear variables or methods.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a large function into smaller functions.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duplicated code.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complicated logic.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improve readability, structure, maintainability, and quality while preserving behavior.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is not the same as adding a new feature.</a:t>
            </a:r>
          </a:p>
        </p:txBody>
      </p:sp>
    </p:spTree>
    <p:extLst>
      <p:ext uri="{BB962C8B-B14F-4D97-AF65-F5344CB8AC3E}">
        <p14:creationId xmlns:p14="http://schemas.microsoft.com/office/powerpoint/2010/main" val="329876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01BB-DA1C-2BDF-41F2-3213E236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84C31C-506A-BCF5-70EC-B12812689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22C9194-C2FF-C3AE-E214-C4E697ED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94432" y="596974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Reuse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7F078C31-52E7-1BD8-83FB-F6EC0D2832FD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reuse means using existing software assets instead of creating everything from scratch.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 assets can include: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and frameworks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and modules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functions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 and configuration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tested code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reduces development time and can improve reliability when reused components are well tested.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 still requires checking compatibility, security, licensing, and suitability.</a:t>
            </a:r>
          </a:p>
        </p:txBody>
      </p:sp>
    </p:spTree>
    <p:extLst>
      <p:ext uri="{BB962C8B-B14F-4D97-AF65-F5344CB8AC3E}">
        <p14:creationId xmlns:p14="http://schemas.microsoft.com/office/powerpoint/2010/main" val="333457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FBC0-EA9B-68B6-AE6E-2D0C4B47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0C9BAC-B923-9609-B5BB-7792261DF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AE21321-C2E8-105C-A191-2D25C2F7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6089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&amp; Configuration Management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1BE80EC3-4C77-123C-6509-C484FDF85392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management automates the process of compiling, packaging, testing, and producing software artifacts.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controls versions and changes to source code, dependencies, build scripts, and related artifacts.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tools include Git, Maven, Gradle,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CI/CD systems.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repeatable builds, traceable changes, easier collaboration, and fewer environment-related problems.</a:t>
            </a:r>
          </a:p>
        </p:txBody>
      </p:sp>
    </p:spTree>
    <p:extLst>
      <p:ext uri="{BB962C8B-B14F-4D97-AF65-F5344CB8AC3E}">
        <p14:creationId xmlns:p14="http://schemas.microsoft.com/office/powerpoint/2010/main" val="136995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0FAD-0844-BAAE-777A-74D86C02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D6812-975D-EACC-A6AF-6210336F0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89BE97C-6E95-6E48-2BB2-D5F51C9C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86089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vs. Testing vs. Debugging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9410DB4C-7A81-5187-4457-A27396476BF3}"/>
              </a:ext>
            </a:extLst>
          </p:cNvPr>
          <p:cNvSpPr/>
          <p:nvPr/>
        </p:nvSpPr>
        <p:spPr>
          <a:xfrm>
            <a:off x="755685" y="1531150"/>
            <a:ext cx="10131879" cy="3795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Construction: creates and integrates the software.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evaluates software behavior to find failures and provide evidence of quality.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Debugging: investigates and fixes the causes of defects.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memory aid: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→ construction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→ testing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232323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→ debugging</a:t>
            </a:r>
          </a:p>
        </p:txBody>
      </p:sp>
    </p:spTree>
    <p:extLst>
      <p:ext uri="{BB962C8B-B14F-4D97-AF65-F5344CB8AC3E}">
        <p14:creationId xmlns:p14="http://schemas.microsoft.com/office/powerpoint/2010/main" val="186456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2BD7-D7E8-1BC6-DBD3-B9B278C61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3A6214-A5AB-EFE8-0D7F-9D0A06E5D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25CD7DD-596F-762D-5B09-0BF3599B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597998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Example — Student Registration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A1D6DC4E-B38B-36D7-A08E-00807D59F342}"/>
              </a:ext>
            </a:extLst>
          </p:cNvPr>
          <p:cNvSpPr/>
          <p:nvPr/>
        </p:nvSpPr>
        <p:spPr>
          <a:xfrm>
            <a:off x="755686" y="1531149"/>
            <a:ext cx="4872228" cy="45213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Requirement: students should register for available courses.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tasks: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Student and Course classes/modules.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registration logic.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inputs and handle errors.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unit tests for registration rules.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registration with the database.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23232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refactor code.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232323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working, tested, integrated registration functionality.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91F71A4D-FBC9-7AA1-5BE5-47355D4034FA}"/>
              </a:ext>
            </a:extLst>
          </p:cNvPr>
          <p:cNvSpPr/>
          <p:nvPr/>
        </p:nvSpPr>
        <p:spPr>
          <a:xfrm>
            <a:off x="5741400" y="1531149"/>
            <a:ext cx="5166086" cy="45213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a team is developing a </a:t>
            </a: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System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coding, the team decides: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Java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Git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Student, Course, Registration, Authentication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Standard: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agreed naming and formatting rules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unit tests for each module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modules integrated regularly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Build: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automated project build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</a:t>
            </a: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planning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22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813D-D47F-F3B0-A1EB-A5E2A522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2131CB-B9AC-5A3A-B815-03369B7F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857" y="-814336"/>
            <a:ext cx="3048000" cy="304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91DC463-DAC0-415E-0F1C-AA3A060F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652492"/>
            <a:ext cx="7963885" cy="697336"/>
          </a:xfrm>
        </p:spPr>
        <p:txBody>
          <a:bodyPr/>
          <a:lstStyle/>
          <a:p>
            <a:pPr>
              <a:defRPr sz="2900" b="1">
                <a:solidFill>
                  <a:srgbClr val="1C3048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 Revision — Questions Example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BD9845B1-F1EF-DB4D-F126-277601D3141F}"/>
              </a:ext>
            </a:extLst>
          </p:cNvPr>
          <p:cNvSpPr/>
          <p:nvPr/>
        </p:nvSpPr>
        <p:spPr>
          <a:xfrm>
            <a:off x="807828" y="1534886"/>
            <a:ext cx="10576344" cy="39732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code readability important even when the program produces the correct output?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modularity help a developer manage the complexity of a large software system?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developer writes a large program in which all functionality is placed in one very long function. The code works, but it is difficult to understand, test, and modify. </a:t>
            </a: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problem and explain which software construction principles should be applied to improve the code.</a:t>
            </a: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K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student registration system works correctly when students enter valid information, but it crashes when a student enters an invalid course ID or leaves required fields empty. </a:t>
            </a:r>
            <a:r>
              <a:rPr lang="en-PK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software construction practices should the developer use to handle this situation? Explain.</a:t>
            </a:r>
            <a:endParaRPr lang="en-P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57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dirty="0"/>
              <a:t>Maria Manzoor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maria.manzoor@iqraisb.edu.pk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ACCF44-01D5-4C40-9EAC-D3C3683409FE}">
  <ds:schemaRefs>
    <ds:schemaRef ds:uri="http://purl.org/dc/elements/1.1/"/>
    <ds:schemaRef ds:uri="http://schemas.microsoft.com/office/2006/documentManagement/types"/>
    <ds:schemaRef ds:uri="230e9df3-be65-4c73-a93b-d1236ebd677e"/>
    <ds:schemaRef ds:uri="16c05727-aa75-4e4a-9b5f-8a80a1165891"/>
    <ds:schemaRef ds:uri="http://purl.org/dc/terms/"/>
    <ds:schemaRef ds:uri="71af3243-3dd4-4a8d-8c0d-dd76da1f02a5"/>
    <ds:schemaRef ds:uri="http://schemas.microsoft.com/sharepoint/v3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{206EE6F6-F56F-4B57-A4C8-6C501BF6D1F9}TF4e23ad37-c1a6-42e6-a6ec-6518d97eca9ec3cad5d6_win32-e4fb00466b0d</Template>
  <TotalTime>246</TotalTime>
  <Words>1605</Words>
  <Application>Microsoft Office PowerPoint</Application>
  <PresentationFormat>Widescreen</PresentationFormat>
  <Paragraphs>217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Century Gothic</vt:lpstr>
      <vt:lpstr>Times New Roman</vt:lpstr>
      <vt:lpstr>Wingdings 2</vt:lpstr>
      <vt:lpstr>Quotable</vt:lpstr>
      <vt:lpstr>Introduction to Software Construction</vt:lpstr>
      <vt:lpstr>Agenda</vt:lpstr>
      <vt:lpstr>What is Software Construction?</vt:lpstr>
      <vt:lpstr>Where Does Construction Fit?</vt:lpstr>
      <vt:lpstr>Why is Software Construction Important?</vt:lpstr>
      <vt:lpstr>Major Software Construction Activities</vt:lpstr>
      <vt:lpstr> Coding</vt:lpstr>
      <vt:lpstr>Good Coding Practices</vt:lpstr>
      <vt:lpstr>Coding Standards</vt:lpstr>
      <vt:lpstr>Managing Complexity</vt:lpstr>
      <vt:lpstr>Modularity</vt:lpstr>
      <vt:lpstr>Abstraction &amp; Encapsulation</vt:lpstr>
      <vt:lpstr>Error Handling</vt:lpstr>
      <vt:lpstr>Defensive Programming</vt:lpstr>
      <vt:lpstr>Unit Testing in Construction</vt:lpstr>
      <vt:lpstr>Debugging</vt:lpstr>
      <vt:lpstr>Code Review</vt:lpstr>
      <vt:lpstr>Integration</vt:lpstr>
      <vt:lpstr>Refactoring</vt:lpstr>
      <vt:lpstr>Software Reuse</vt:lpstr>
      <vt:lpstr>Build &amp; Configuration Management</vt:lpstr>
      <vt:lpstr>Construction vs. Testing vs. Debugging</vt:lpstr>
      <vt:lpstr>Construction Example — Student Registration</vt:lpstr>
      <vt:lpstr>Exam Revision — Questions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Manzoor</dc:creator>
  <cp:lastModifiedBy>Maria Manzoor</cp:lastModifiedBy>
  <cp:revision>11</cp:revision>
  <dcterms:created xsi:type="dcterms:W3CDTF">2026-10-06T07:44:30Z</dcterms:created>
  <dcterms:modified xsi:type="dcterms:W3CDTF">2026-10-08T05:34:25Z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